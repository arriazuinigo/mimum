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BEAE9"/>
          </a:solidFill>
          <a:ln/>
        </p:spPr>
      </p:sp>
      <p:sp>
        <p:nvSpPr>
          <p:cNvPr id="3" name="Text 1"/>
          <p:cNvSpPr/>
          <p:nvPr/>
        </p:nvSpPr>
        <p:spPr>
          <a:xfrm>
            <a:off x="16196513" y="552346"/>
            <a:ext cx="1024688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68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BACKUP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774" y="533322"/>
            <a:ext cx="17423946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BACKUP · LONG-TERM · PHASE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774" y="867086"/>
            <a:ext cx="17423946" cy="510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36" kern="0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Where we're heading: the risk engine.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774" y="1415291"/>
            <a:ext cx="15893415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Our long-term vision turns the data Mimum collects into a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cardiovascular risk signal for clinicians.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We've already prototyped it — this is Phase 2 of our roadmap, made tangible.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774" y="1818550"/>
            <a:ext cx="9783957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HOW THE SCORE WORKS · ADDITIVE POINTS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685774" y="2184926"/>
            <a:ext cx="8736988" cy="520769"/>
          </a:xfrm>
          <a:prstGeom prst="roundRect">
            <a:avLst>
              <a:gd name="adj" fmla="val 2377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95324" y="2308751"/>
            <a:ext cx="8579997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B3231"/>
                </a:solidFill>
                <a:highlight>
                  <a:srgbClr val="FFFFFF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Current hypertension </a:t>
            </a:r>
            <a:pPr algn="l" indent="0" marL="0">
              <a:buNone/>
            </a:pPr>
            <a:r>
              <a:rPr lang="en-US" sz="1425" b="1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(SBP ≥130 / DBP ≥80 / BP meds)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9422762" y="2184926"/>
            <a:ext cx="762000" cy="520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556112" y="2308751"/>
            <a:ext cx="419100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D87E8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+2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685774" y="2772344"/>
            <a:ext cx="8736988" cy="520769"/>
          </a:xfrm>
          <a:prstGeom prst="roundRect">
            <a:avLst>
              <a:gd name="adj" fmla="val 2377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95324" y="2896169"/>
            <a:ext cx="8579997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Age 45+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422762" y="2772344"/>
            <a:ext cx="762000" cy="520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556112" y="2896169"/>
            <a:ext cx="419100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D87E8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+2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685774" y="3359763"/>
            <a:ext cx="8736988" cy="520769"/>
          </a:xfrm>
          <a:prstGeom prst="roundRect">
            <a:avLst>
              <a:gd name="adj" fmla="val 2377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95324" y="3483588"/>
            <a:ext cx="8579997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Diabetes history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9422762" y="3359763"/>
            <a:ext cx="762000" cy="520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556112" y="3483588"/>
            <a:ext cx="419100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D87E8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+1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685774" y="3947181"/>
            <a:ext cx="8736988" cy="520769"/>
          </a:xfrm>
          <a:prstGeom prst="roundRect">
            <a:avLst>
              <a:gd name="adj" fmla="val 23777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95324" y="4071006"/>
            <a:ext cx="8579997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Gestational diabetes history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9422762" y="3947181"/>
            <a:ext cx="762000" cy="520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556112" y="4071006"/>
            <a:ext cx="419100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D87E8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+1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685774" y="4534599"/>
            <a:ext cx="8736988" cy="520769"/>
          </a:xfrm>
          <a:prstGeom prst="roundRect">
            <a:avLst>
              <a:gd name="adj" fmla="val 23777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95324" y="4658424"/>
            <a:ext cx="8579997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B3231"/>
                </a:solidFill>
                <a:highlight>
                  <a:srgbClr val="FFFFFF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Obesity </a:t>
            </a:r>
            <a:pPr algn="l" indent="0" marL="0">
              <a:buNone/>
            </a:pPr>
            <a:r>
              <a:rPr lang="en-US" sz="1425" b="1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(BMI ≥30)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9422762" y="4534599"/>
            <a:ext cx="762000" cy="520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556112" y="4658424"/>
            <a:ext cx="419100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D87E8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+1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685774" y="5122017"/>
            <a:ext cx="8736988" cy="520769"/>
          </a:xfrm>
          <a:prstGeom prst="roundRect">
            <a:avLst>
              <a:gd name="adj" fmla="val 23777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95324" y="5245842"/>
            <a:ext cx="8579997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Dyslipidemia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9422762" y="5122017"/>
            <a:ext cx="762000" cy="520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556112" y="5245842"/>
            <a:ext cx="419100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D87E8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+1</a:t>
            </a:r>
            <a:endParaRPr lang="en-US" sz="1575" dirty="0"/>
          </a:p>
        </p:txBody>
      </p:sp>
      <p:sp>
        <p:nvSpPr>
          <p:cNvPr id="32" name="Shape 30"/>
          <p:cNvSpPr/>
          <p:nvPr/>
        </p:nvSpPr>
        <p:spPr>
          <a:xfrm>
            <a:off x="685774" y="5709435"/>
            <a:ext cx="8736988" cy="520769"/>
          </a:xfrm>
          <a:prstGeom prst="roundRect">
            <a:avLst>
              <a:gd name="adj" fmla="val 23777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95324" y="5833260"/>
            <a:ext cx="8579997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B3231"/>
                </a:solidFill>
                <a:highlight>
                  <a:srgbClr val="FFFFFF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Depression </a:t>
            </a:r>
            <a:pPr algn="l" indent="0" marL="0">
              <a:buNone/>
            </a:pPr>
            <a:r>
              <a:rPr lang="en-US" sz="1425" b="1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(PHQ-9 ≥10)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9422762" y="5709435"/>
            <a:ext cx="762000" cy="520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556112" y="5833260"/>
            <a:ext cx="419100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D87E8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+1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685774" y="6296853"/>
            <a:ext cx="8736988" cy="520769"/>
          </a:xfrm>
          <a:prstGeom prst="roundRect">
            <a:avLst>
              <a:gd name="adj" fmla="val 23777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95324" y="6420678"/>
            <a:ext cx="8579997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B3231"/>
                </a:solidFill>
                <a:highlight>
                  <a:srgbClr val="FFFFFF"/>
                </a:highlight>
                <a:latin typeface="Nunito" pitchFamily="34" charset="0"/>
                <a:ea typeface="Nunito" pitchFamily="34" charset="-122"/>
                <a:cs typeface="Nunito" pitchFamily="34" charset="-120"/>
              </a:rPr>
              <a:t>Elevated heart rate </a:t>
            </a:r>
            <a:pPr algn="l" indent="0" marL="0">
              <a:buNone/>
            </a:pPr>
            <a:r>
              <a:rPr lang="en-US" sz="1425" b="1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(&gt;100 bpm)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9422762" y="6296853"/>
            <a:ext cx="762000" cy="520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9556112" y="6420678"/>
            <a:ext cx="419100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D87E8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+1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685774" y="6884272"/>
            <a:ext cx="8736988" cy="520769"/>
          </a:xfrm>
          <a:prstGeom prst="roundRect">
            <a:avLst>
              <a:gd name="adj" fmla="val 23777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895324" y="7008097"/>
            <a:ext cx="8579997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Age 35–44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9422762" y="6884272"/>
            <a:ext cx="762000" cy="520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556112" y="7008097"/>
            <a:ext cx="419100" cy="311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D87E8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+1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0565762" y="3572910"/>
            <a:ext cx="7247559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TIERS</a:t>
            </a:r>
            <a:endParaRPr lang="en-US" sz="1275" dirty="0"/>
          </a:p>
        </p:txBody>
      </p:sp>
      <p:sp>
        <p:nvSpPr>
          <p:cNvPr id="45" name="Shape 43"/>
          <p:cNvSpPr/>
          <p:nvPr/>
        </p:nvSpPr>
        <p:spPr>
          <a:xfrm>
            <a:off x="10565762" y="3987041"/>
            <a:ext cx="2256623" cy="1504717"/>
          </a:xfrm>
          <a:prstGeom prst="roundRect">
            <a:avLst>
              <a:gd name="adj" fmla="val 12660"/>
            </a:avLst>
          </a:prstGeom>
          <a:solidFill>
            <a:srgbClr val="DCE9D5"/>
          </a:solidFill>
          <a:ln/>
        </p:spPr>
      </p:sp>
      <p:sp>
        <p:nvSpPr>
          <p:cNvPr id="46" name="Text 44"/>
          <p:cNvSpPr/>
          <p:nvPr/>
        </p:nvSpPr>
        <p:spPr>
          <a:xfrm>
            <a:off x="10699009" y="4196565"/>
            <a:ext cx="1990130" cy="37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4C6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Low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699009" y="4574200"/>
            <a:ext cx="1990130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5E7E5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0–2 pts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10699009" y="4892951"/>
            <a:ext cx="1990130" cy="427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4C6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31%</a:t>
            </a:r>
            <a:endParaRPr lang="en-US" sz="2250" dirty="0"/>
          </a:p>
        </p:txBody>
      </p:sp>
      <p:sp>
        <p:nvSpPr>
          <p:cNvPr id="49" name="Shape 47"/>
          <p:cNvSpPr/>
          <p:nvPr/>
        </p:nvSpPr>
        <p:spPr>
          <a:xfrm>
            <a:off x="12955682" y="3987041"/>
            <a:ext cx="2256623" cy="1504717"/>
          </a:xfrm>
          <a:prstGeom prst="roundRect">
            <a:avLst>
              <a:gd name="adj" fmla="val 12660"/>
            </a:avLst>
          </a:prstGeom>
          <a:solidFill>
            <a:srgbClr val="F4E6CC"/>
          </a:solidFill>
          <a:ln/>
        </p:spPr>
      </p:sp>
      <p:sp>
        <p:nvSpPr>
          <p:cNvPr id="50" name="Text 48"/>
          <p:cNvSpPr/>
          <p:nvPr/>
        </p:nvSpPr>
        <p:spPr>
          <a:xfrm>
            <a:off x="13088929" y="4196565"/>
            <a:ext cx="1990130" cy="37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B72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Moderate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3088929" y="4574200"/>
            <a:ext cx="1990130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A98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3–5 pts</a:t>
            </a:r>
            <a:endParaRPr lang="en-US" sz="1275" dirty="0"/>
          </a:p>
        </p:txBody>
      </p:sp>
      <p:sp>
        <p:nvSpPr>
          <p:cNvPr id="52" name="Text 50"/>
          <p:cNvSpPr/>
          <p:nvPr/>
        </p:nvSpPr>
        <p:spPr>
          <a:xfrm>
            <a:off x="13088929" y="4892951"/>
            <a:ext cx="1990130" cy="427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9B72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50%</a:t>
            </a:r>
            <a:endParaRPr lang="en-US" sz="2250" dirty="0"/>
          </a:p>
        </p:txBody>
      </p:sp>
      <p:sp>
        <p:nvSpPr>
          <p:cNvPr id="53" name="Shape 51"/>
          <p:cNvSpPr/>
          <p:nvPr/>
        </p:nvSpPr>
        <p:spPr>
          <a:xfrm>
            <a:off x="15345604" y="3987041"/>
            <a:ext cx="2256623" cy="1504717"/>
          </a:xfrm>
          <a:prstGeom prst="roundRect">
            <a:avLst>
              <a:gd name="adj" fmla="val 12660"/>
            </a:avLst>
          </a:prstGeom>
          <a:solidFill>
            <a:srgbClr val="F4D5D8"/>
          </a:solidFill>
          <a:ln/>
        </p:spPr>
      </p:sp>
      <p:sp>
        <p:nvSpPr>
          <p:cNvPr id="54" name="Text 52"/>
          <p:cNvSpPr/>
          <p:nvPr/>
        </p:nvSpPr>
        <p:spPr>
          <a:xfrm>
            <a:off x="15478851" y="4196565"/>
            <a:ext cx="1990130" cy="37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15478851" y="4574200"/>
            <a:ext cx="1990130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BE6E7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6+ pts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15478851" y="4892951"/>
            <a:ext cx="1990130" cy="427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19%</a:t>
            </a:r>
            <a:endParaRPr lang="en-US" sz="2250" dirty="0"/>
          </a:p>
        </p:txBody>
      </p:sp>
      <p:sp>
        <p:nvSpPr>
          <p:cNvPr id="57" name="Text 55"/>
          <p:cNvSpPr/>
          <p:nvPr/>
        </p:nvSpPr>
        <p:spPr>
          <a:xfrm>
            <a:off x="10565762" y="5682258"/>
            <a:ext cx="7247559" cy="48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Prototyped on </a:t>
            </a:r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8,703 women </a:t>
            </a:r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from public health data (NHANES): 31% Low · 50% Moderate · 19% High.</a:t>
            </a:r>
            <a:endParaRPr lang="en-US" sz="1275" dirty="0"/>
          </a:p>
        </p:txBody>
      </p:sp>
      <p:sp>
        <p:nvSpPr>
          <p:cNvPr id="58" name="Shape 56"/>
          <p:cNvSpPr/>
          <p:nvPr/>
        </p:nvSpPr>
        <p:spPr>
          <a:xfrm>
            <a:off x="10565762" y="6320019"/>
            <a:ext cx="7036465" cy="773389"/>
          </a:xfrm>
          <a:prstGeom prst="roundRect">
            <a:avLst>
              <a:gd name="adj" fmla="val 19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23850" dist="133350" dir="5400000">
              <a:srgbClr val="B05F69">
                <a:alpha val="34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0775286" y="6491365"/>
            <a:ext cx="6815939" cy="46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Depression </a:t>
            </a:r>
            <a:pPr algn="l" indent="0" marL="0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(PHQ-9) </a:t>
            </a:r>
            <a:pPr algn="l" indent="0" marL="0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is included as a risk factor — reinforcing the mental-health – cardiovascular link.</a:t>
            </a:r>
            <a:endParaRPr lang="en-US" sz="1238" dirty="0"/>
          </a:p>
        </p:txBody>
      </p:sp>
      <p:sp>
        <p:nvSpPr>
          <p:cNvPr id="60" name="Shape 58"/>
          <p:cNvSpPr/>
          <p:nvPr/>
        </p:nvSpPr>
        <p:spPr>
          <a:xfrm>
            <a:off x="685774" y="9000090"/>
            <a:ext cx="16916452" cy="905910"/>
          </a:xfrm>
          <a:prstGeom prst="roundRect">
            <a:avLst>
              <a:gd name="adj" fmla="val 25234"/>
            </a:avLst>
          </a:prstGeom>
          <a:solidFill>
            <a:srgbClr val="3B3231"/>
          </a:solidFill>
          <a:ln/>
        </p:spPr>
      </p:sp>
      <p:sp>
        <p:nvSpPr>
          <p:cNvPr id="61" name="Text 59"/>
          <p:cNvSpPr/>
          <p:nvPr/>
        </p:nvSpPr>
        <p:spPr>
          <a:xfrm>
            <a:off x="824457" y="9171437"/>
            <a:ext cx="16639086" cy="601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Transparent and clinician-reviewable by design. </a:t>
            </a:r>
            <a:pPr algn="ctr" indent="0" marL="0">
              <a:lnSpc>
                <a:spcPct val="130000"/>
              </a:lnSpc>
              <a:buNone/>
            </a:pPr>
            <a:r>
              <a:rPr lang="en-US" sz="1725" b="1" dirty="0">
                <a:solidFill>
                  <a:srgbClr val="E89AA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Validation against real long-term outcomes is the next milestone </a:t>
            </a:r>
            <a:pPr algn="ctr" indent="0" marL="0">
              <a:lnSpc>
                <a:spcPct val="13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deliberately phased, alongside MHRA classification.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96513" y="552346"/>
            <a:ext cx="1024688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68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774" y="533322"/>
            <a:ext cx="17423946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BACKUP · LONG-TERM · DATA SCIENCE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774" y="867086"/>
            <a:ext cx="17423946" cy="493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34" kern="0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data science behind the long-term engine.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85774" y="1398726"/>
            <a:ext cx="15893415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 prove our Phase 2 risk engine is feasible, our data-science team benchmarked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five modelling approaches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 public health data — prioritising interpretability for clinicians over raw accuracy.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774" y="1782961"/>
            <a:ext cx="10218909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MODELS COMPARED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914374" y="2158784"/>
            <a:ext cx="4592804" cy="220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17290" y="2158784"/>
            <a:ext cx="1722136" cy="220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TYPE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32965" y="2158784"/>
            <a:ext cx="2545610" cy="220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spc="63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RESULT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774" y="2455146"/>
            <a:ext cx="4902916" cy="549888"/>
          </a:xfrm>
          <a:prstGeom prst="roundRect">
            <a:avLst>
              <a:gd name="adj" fmla="val 24250"/>
            </a:avLst>
          </a:prstGeom>
          <a:solidFill>
            <a:srgbClr val="F7DEDF"/>
          </a:solidFill>
          <a:ln/>
        </p:spPr>
      </p:sp>
      <p:sp>
        <p:nvSpPr>
          <p:cNvPr id="11" name="Text 9"/>
          <p:cNvSpPr/>
          <p:nvPr/>
        </p:nvSpPr>
        <p:spPr>
          <a:xfrm>
            <a:off x="914322" y="2598021"/>
            <a:ext cx="1642308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Explainable GAM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75633" y="2639564"/>
            <a:ext cx="1056939" cy="222595"/>
          </a:xfrm>
          <a:prstGeom prst="roundRect">
            <a:avLst>
              <a:gd name="adj" fmla="val 50000"/>
            </a:avLst>
          </a:prstGeom>
          <a:solidFill>
            <a:srgbClr val="E89AA0"/>
          </a:solidFill>
          <a:ln/>
        </p:spPr>
      </p:sp>
      <p:sp>
        <p:nvSpPr>
          <p:cNvPr id="13" name="Text 11"/>
          <p:cNvSpPr/>
          <p:nvPr/>
        </p:nvSpPr>
        <p:spPr>
          <a:xfrm>
            <a:off x="2680408" y="2668139"/>
            <a:ext cx="923589" cy="203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9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OUR CHOICE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588690" y="2455146"/>
            <a:ext cx="2103136" cy="549888"/>
          </a:xfrm>
          <a:prstGeom prst="rect">
            <a:avLst/>
          </a:prstGeom>
          <a:solidFill>
            <a:srgbClr val="F7DEDF"/>
          </a:solidFill>
          <a:ln/>
        </p:spPr>
      </p:sp>
      <p:sp>
        <p:nvSpPr>
          <p:cNvPr id="15" name="Text 13"/>
          <p:cNvSpPr/>
          <p:nvPr/>
        </p:nvSpPr>
        <p:spPr>
          <a:xfrm>
            <a:off x="5817290" y="2598021"/>
            <a:ext cx="1722136" cy="30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Interpretable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91826" y="2455146"/>
            <a:ext cx="2915349" cy="549888"/>
          </a:xfrm>
          <a:prstGeom prst="rect">
            <a:avLst/>
          </a:prstGeom>
          <a:solidFill>
            <a:srgbClr val="F7DEDF"/>
          </a:solidFill>
          <a:ln/>
        </p:spPr>
      </p:sp>
      <p:sp>
        <p:nvSpPr>
          <p:cNvPr id="17" name="Text 15"/>
          <p:cNvSpPr/>
          <p:nvPr/>
        </p:nvSpPr>
        <p:spPr>
          <a:xfrm>
            <a:off x="7832965" y="2598021"/>
            <a:ext cx="2545610" cy="30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 0.92 · F1 0.91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685774" y="3081131"/>
            <a:ext cx="4902916" cy="542511"/>
          </a:xfrm>
          <a:prstGeom prst="roundRect">
            <a:avLst>
              <a:gd name="adj" fmla="val 2458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374" y="3224006"/>
            <a:ext cx="4592804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Ordinal logistic regression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88690" y="3081131"/>
            <a:ext cx="2103136" cy="5425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817290" y="3224006"/>
            <a:ext cx="1722136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Interpretable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91826" y="3081131"/>
            <a:ext cx="2915349" cy="5425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832965" y="3224006"/>
            <a:ext cx="2545610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 0.86 · F1 0.86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685774" y="3699738"/>
            <a:ext cx="4902916" cy="542511"/>
          </a:xfrm>
          <a:prstGeom prst="roundRect">
            <a:avLst>
              <a:gd name="adj" fmla="val 2458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374" y="3842613"/>
            <a:ext cx="4592804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Binary logistic regression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588690" y="3699738"/>
            <a:ext cx="2103136" cy="5425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817290" y="3842613"/>
            <a:ext cx="1722136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Interpretable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91826" y="3699738"/>
            <a:ext cx="2915349" cy="5425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832965" y="3842613"/>
            <a:ext cx="2545610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AUC 0.98 · F1 0.84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685774" y="4318345"/>
            <a:ext cx="4902916" cy="542511"/>
          </a:xfrm>
          <a:prstGeom prst="roundRect">
            <a:avLst>
              <a:gd name="adj" fmla="val 2458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374" y="4461220"/>
            <a:ext cx="4592804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588690" y="4318345"/>
            <a:ext cx="2103136" cy="5425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817290" y="4461220"/>
            <a:ext cx="1722136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Black-box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91826" y="4318345"/>
            <a:ext cx="2915349" cy="5425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832965" y="4461220"/>
            <a:ext cx="2545610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 0.72 · F1 0.67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685774" y="4936953"/>
            <a:ext cx="4902916" cy="542511"/>
          </a:xfrm>
          <a:prstGeom prst="roundRect">
            <a:avLst>
              <a:gd name="adj" fmla="val 2458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14374" y="5079828"/>
            <a:ext cx="4592804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K-means clustering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588690" y="4936953"/>
            <a:ext cx="2103136" cy="5425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817290" y="5079828"/>
            <a:ext cx="1722136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Exploratory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691826" y="4936953"/>
            <a:ext cx="2915349" cy="5425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7832965" y="5079828"/>
            <a:ext cx="2545610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 a classifier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685774" y="5612632"/>
            <a:ext cx="10218909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GAM — best balance of performance and interpretability for clinicians.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10988046" y="4301780"/>
            <a:ext cx="6812607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WHY THESE CHOICES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11216646" y="4696757"/>
            <a:ext cx="6584007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35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Built on public datasets: </a:t>
            </a:r>
            <a:pPr algn="l" indent="0" marL="0">
              <a:lnSpc>
                <a:spcPct val="134000"/>
              </a:lnSpc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NHANES (8,703 women), PRAMS, FinnGen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216646" y="5091734"/>
            <a:ext cx="6584007" cy="48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35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Followed clinical-prediction guidelines </a:t>
            </a:r>
            <a:pPr algn="l" indent="0" marL="0">
              <a:lnSpc>
                <a:spcPct val="134000"/>
              </a:lnSpc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(TRIPOD+AI, PROBAST+AI, FDA ML transparency)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1216646" y="5710341"/>
            <a:ext cx="6584007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Interpretability prioritised </a:t>
            </a:r>
            <a:pPr algn="l" indent="0" marL="0">
              <a:lnSpc>
                <a:spcPct val="134000"/>
              </a:lnSpc>
              <a:buNone/>
            </a:pPr>
            <a:r>
              <a:rPr lang="en-US" sz="135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clinicians see each feature's effect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1216646" y="6105318"/>
            <a:ext cx="6584007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35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Fairness checks planned by </a:t>
            </a:r>
            <a:pPr algn="l" indent="0" marL="0">
              <a:lnSpc>
                <a:spcPct val="134000"/>
              </a:lnSpc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age, ethnicity, pregnancy &amp; postpartum status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685774" y="9000090"/>
            <a:ext cx="16916452" cy="905910"/>
          </a:xfrm>
          <a:prstGeom prst="roundRect">
            <a:avLst>
              <a:gd name="adj" fmla="val 25234"/>
            </a:avLst>
          </a:prstGeom>
          <a:solidFill>
            <a:srgbClr val="3B3231"/>
          </a:solidFill>
          <a:ln/>
        </p:spPr>
      </p:sp>
      <p:sp>
        <p:nvSpPr>
          <p:cNvPr id="49" name="Text 47"/>
          <p:cNvSpPr/>
          <p:nvPr/>
        </p:nvSpPr>
        <p:spPr>
          <a:xfrm>
            <a:off x="824457" y="9171437"/>
            <a:ext cx="16639086" cy="601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These models currently learn our rule-based tiers — </a:t>
            </a:r>
            <a:pPr algn="ctr" indent="0" marL="0">
              <a:lnSpc>
                <a:spcPct val="130000"/>
              </a:lnSpc>
              <a:buNone/>
            </a:pPr>
            <a:r>
              <a:rPr lang="en-US" sz="1725" b="1" dirty="0">
                <a:solidFill>
                  <a:srgbClr val="E89AA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next step is training &amp; validating against real longitudinal cardiovascular outcomes </a:t>
            </a:r>
            <a:pPr algn="ctr" indent="0" marL="0">
              <a:lnSpc>
                <a:spcPct val="13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before any clinical deployment.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96513" y="552346"/>
            <a:ext cx="1024688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68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6750" y="533322"/>
            <a:ext cx="17463136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BACKUP · UK GDPR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" y="867086"/>
            <a:ext cx="17463136" cy="510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36" kern="0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Our UK GDPR compliance plan.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6750" y="1434444"/>
            <a:ext cx="16089630" cy="501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Mimum processes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special-category health data (UK GDPR Article 9)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the highest-risk tier. Before the pilot, we will implement a full compliance framework, governed by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UK GDPR + the Data Protection Act 2018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and the ICO.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76300" y="2145713"/>
            <a:ext cx="3064516" cy="228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MEASURE TO IMPLEMENT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258452" y="2145713"/>
            <a:ext cx="3060384" cy="228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IT COVERS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598491" y="2145713"/>
            <a:ext cx="1240890" cy="228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spc="68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PRIORITY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666750" y="2450358"/>
            <a:ext cx="3382152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" y="2574183"/>
            <a:ext cx="3064516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Lawful basis &amp; consent flow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048902" y="2450358"/>
            <a:ext cx="337814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258452" y="2574183"/>
            <a:ext cx="3060384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Explicit consent (Art. 6)</a:t>
            </a:r>
            <a:endParaRPr lang="en-US" sz="1238" dirty="0"/>
          </a:p>
        </p:txBody>
      </p:sp>
      <p:sp>
        <p:nvSpPr>
          <p:cNvPr id="13" name="Shape 11"/>
          <p:cNvSpPr/>
          <p:nvPr/>
        </p:nvSpPr>
        <p:spPr>
          <a:xfrm>
            <a:off x="7427041" y="2450358"/>
            <a:ext cx="158379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51875" y="2574080"/>
            <a:ext cx="934123" cy="277467"/>
          </a:xfrm>
          <a:prstGeom prst="roundRect">
            <a:avLst>
              <a:gd name="adj" fmla="val 50000"/>
            </a:avLst>
          </a:prstGeom>
          <a:solidFill>
            <a:srgbClr val="F4D5D8"/>
          </a:solidFill>
          <a:ln/>
        </p:spPr>
      </p:sp>
      <p:sp>
        <p:nvSpPr>
          <p:cNvPr id="15" name="Text 13"/>
          <p:cNvSpPr/>
          <p:nvPr/>
        </p:nvSpPr>
        <p:spPr>
          <a:xfrm>
            <a:off x="7847125" y="2621705"/>
            <a:ext cx="743623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6750" y="3051365"/>
            <a:ext cx="3382152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3175190"/>
            <a:ext cx="3064516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Special-category data consent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048902" y="3051365"/>
            <a:ext cx="337814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58452" y="3175190"/>
            <a:ext cx="3060384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Art. 9 condition for health data</a:t>
            </a:r>
            <a:endParaRPr lang="en-US" sz="1238" dirty="0"/>
          </a:p>
        </p:txBody>
      </p:sp>
      <p:sp>
        <p:nvSpPr>
          <p:cNvPr id="20" name="Shape 18"/>
          <p:cNvSpPr/>
          <p:nvPr/>
        </p:nvSpPr>
        <p:spPr>
          <a:xfrm>
            <a:off x="7427041" y="3051365"/>
            <a:ext cx="158379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51875" y="3175086"/>
            <a:ext cx="934123" cy="277467"/>
          </a:xfrm>
          <a:prstGeom prst="roundRect">
            <a:avLst>
              <a:gd name="adj" fmla="val 50000"/>
            </a:avLst>
          </a:prstGeom>
          <a:solidFill>
            <a:srgbClr val="F4D5D8"/>
          </a:solidFill>
          <a:ln/>
        </p:spPr>
      </p:sp>
      <p:sp>
        <p:nvSpPr>
          <p:cNvPr id="22" name="Text 20"/>
          <p:cNvSpPr/>
          <p:nvPr/>
        </p:nvSpPr>
        <p:spPr>
          <a:xfrm>
            <a:off x="7847125" y="3222711"/>
            <a:ext cx="743623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CRITICAL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6750" y="3652372"/>
            <a:ext cx="3382152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76300" y="3776197"/>
            <a:ext cx="3064516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Privacy policy &amp; notice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048902" y="3652372"/>
            <a:ext cx="337814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258452" y="3776197"/>
            <a:ext cx="3060384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Plain-language transparency</a:t>
            </a:r>
            <a:endParaRPr lang="en-US" sz="1238" dirty="0"/>
          </a:p>
        </p:txBody>
      </p:sp>
      <p:sp>
        <p:nvSpPr>
          <p:cNvPr id="27" name="Shape 25"/>
          <p:cNvSpPr/>
          <p:nvPr/>
        </p:nvSpPr>
        <p:spPr>
          <a:xfrm>
            <a:off x="7427041" y="3652372"/>
            <a:ext cx="158379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751875" y="3776093"/>
            <a:ext cx="934123" cy="277467"/>
          </a:xfrm>
          <a:prstGeom prst="roundRect">
            <a:avLst>
              <a:gd name="adj" fmla="val 50000"/>
            </a:avLst>
          </a:prstGeom>
          <a:solidFill>
            <a:srgbClr val="F4D5D8"/>
          </a:solidFill>
          <a:ln/>
        </p:spPr>
      </p:sp>
      <p:sp>
        <p:nvSpPr>
          <p:cNvPr id="29" name="Text 27"/>
          <p:cNvSpPr/>
          <p:nvPr/>
        </p:nvSpPr>
        <p:spPr>
          <a:xfrm>
            <a:off x="7847125" y="3823718"/>
            <a:ext cx="743623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B05F6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CRITICAL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6750" y="4253378"/>
            <a:ext cx="3382152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76300" y="4377203"/>
            <a:ext cx="3064516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UK data residency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048902" y="4253378"/>
            <a:ext cx="337814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258452" y="4377203"/>
            <a:ext cx="3060384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Storage configured in the UK</a:t>
            </a:r>
            <a:endParaRPr lang="en-US" sz="1238" dirty="0"/>
          </a:p>
        </p:txBody>
      </p:sp>
      <p:sp>
        <p:nvSpPr>
          <p:cNvPr id="34" name="Shape 32"/>
          <p:cNvSpPr/>
          <p:nvPr/>
        </p:nvSpPr>
        <p:spPr>
          <a:xfrm>
            <a:off x="7427041" y="4253378"/>
            <a:ext cx="158379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899409" y="4377100"/>
            <a:ext cx="639055" cy="277467"/>
          </a:xfrm>
          <a:prstGeom prst="roundRect">
            <a:avLst>
              <a:gd name="adj" fmla="val 50000"/>
            </a:avLst>
          </a:prstGeom>
          <a:solidFill>
            <a:srgbClr val="F4E6CC"/>
          </a:solidFill>
          <a:ln/>
        </p:spPr>
      </p:sp>
      <p:sp>
        <p:nvSpPr>
          <p:cNvPr id="36" name="Text 34"/>
          <p:cNvSpPr/>
          <p:nvPr/>
        </p:nvSpPr>
        <p:spPr>
          <a:xfrm>
            <a:off x="7994659" y="4424725"/>
            <a:ext cx="44855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9B72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6750" y="4854385"/>
            <a:ext cx="3382152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76300" y="4978210"/>
            <a:ext cx="3064516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Right to erasure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048902" y="4854385"/>
            <a:ext cx="337814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258452" y="4978210"/>
            <a:ext cx="3060384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Art. 17 — delete on request</a:t>
            </a:r>
            <a:endParaRPr lang="en-US" sz="1238" dirty="0"/>
          </a:p>
        </p:txBody>
      </p:sp>
      <p:sp>
        <p:nvSpPr>
          <p:cNvPr id="41" name="Shape 39"/>
          <p:cNvSpPr/>
          <p:nvPr/>
        </p:nvSpPr>
        <p:spPr>
          <a:xfrm>
            <a:off x="7427041" y="4854385"/>
            <a:ext cx="158379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7899409" y="4978107"/>
            <a:ext cx="639055" cy="277467"/>
          </a:xfrm>
          <a:prstGeom prst="roundRect">
            <a:avLst>
              <a:gd name="adj" fmla="val 50000"/>
            </a:avLst>
          </a:prstGeom>
          <a:solidFill>
            <a:srgbClr val="F4E6CC"/>
          </a:solidFill>
          <a:ln/>
        </p:spPr>
      </p:sp>
      <p:sp>
        <p:nvSpPr>
          <p:cNvPr id="43" name="Text 41"/>
          <p:cNvSpPr/>
          <p:nvPr/>
        </p:nvSpPr>
        <p:spPr>
          <a:xfrm>
            <a:off x="7994659" y="5025732"/>
            <a:ext cx="44855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9B72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6750" y="5455392"/>
            <a:ext cx="3382152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76300" y="5579217"/>
            <a:ext cx="3064516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Right to data portability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4048902" y="5455392"/>
            <a:ext cx="337814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258452" y="5579217"/>
            <a:ext cx="3060384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Art. 20 — export her data</a:t>
            </a:r>
            <a:endParaRPr lang="en-US" sz="1238" dirty="0"/>
          </a:p>
        </p:txBody>
      </p:sp>
      <p:sp>
        <p:nvSpPr>
          <p:cNvPr id="48" name="Shape 46"/>
          <p:cNvSpPr/>
          <p:nvPr/>
        </p:nvSpPr>
        <p:spPr>
          <a:xfrm>
            <a:off x="7427041" y="5455392"/>
            <a:ext cx="158379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7899409" y="5579114"/>
            <a:ext cx="639055" cy="277467"/>
          </a:xfrm>
          <a:prstGeom prst="roundRect">
            <a:avLst>
              <a:gd name="adj" fmla="val 50000"/>
            </a:avLst>
          </a:prstGeom>
          <a:solidFill>
            <a:srgbClr val="F4E6CC"/>
          </a:solidFill>
          <a:ln/>
        </p:spPr>
      </p:sp>
      <p:sp>
        <p:nvSpPr>
          <p:cNvPr id="50" name="Text 48"/>
          <p:cNvSpPr/>
          <p:nvPr/>
        </p:nvSpPr>
        <p:spPr>
          <a:xfrm>
            <a:off x="7994659" y="5626739"/>
            <a:ext cx="44855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9B72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6750" y="6056399"/>
            <a:ext cx="3382152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876300" y="6180224"/>
            <a:ext cx="3064516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Cookie / analytics consent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4048902" y="6056399"/>
            <a:ext cx="337814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258452" y="6180224"/>
            <a:ext cx="3060384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Consent for non-essential tracking</a:t>
            </a:r>
            <a:endParaRPr lang="en-US" sz="1238" dirty="0"/>
          </a:p>
        </p:txBody>
      </p:sp>
      <p:sp>
        <p:nvSpPr>
          <p:cNvPr id="55" name="Shape 53"/>
          <p:cNvSpPr/>
          <p:nvPr/>
        </p:nvSpPr>
        <p:spPr>
          <a:xfrm>
            <a:off x="7427041" y="6056399"/>
            <a:ext cx="1583790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7899409" y="6180120"/>
            <a:ext cx="639055" cy="277467"/>
          </a:xfrm>
          <a:prstGeom prst="roundRect">
            <a:avLst>
              <a:gd name="adj" fmla="val 50000"/>
            </a:avLst>
          </a:prstGeom>
          <a:solidFill>
            <a:srgbClr val="F4E6CC"/>
          </a:solidFill>
          <a:ln/>
        </p:spPr>
      </p:sp>
      <p:sp>
        <p:nvSpPr>
          <p:cNvPr id="57" name="Text 55"/>
          <p:cNvSpPr/>
          <p:nvPr/>
        </p:nvSpPr>
        <p:spPr>
          <a:xfrm>
            <a:off x="7994659" y="6227745"/>
            <a:ext cx="44855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9B72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486849" y="2145713"/>
            <a:ext cx="2603971" cy="228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MEASURE TO IMPLEMENT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12421869" y="2145713"/>
            <a:ext cx="3580780" cy="228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IT COVERS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16267148" y="2145713"/>
            <a:ext cx="1182782" cy="228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spc="68" kern="0" dirty="0">
                <a:solidFill>
                  <a:srgbClr val="A99E9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PRIORITY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9277299" y="2450358"/>
            <a:ext cx="2935020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9486849" y="2574183"/>
            <a:ext cx="2603971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DPIA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12212319" y="2450358"/>
            <a:ext cx="3883379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12421869" y="2574183"/>
            <a:ext cx="3580780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Impact assessment for high-risk processing</a:t>
            </a:r>
            <a:endParaRPr lang="en-US" sz="1238" dirty="0"/>
          </a:p>
        </p:txBody>
      </p:sp>
      <p:sp>
        <p:nvSpPr>
          <p:cNvPr id="65" name="Shape 63"/>
          <p:cNvSpPr/>
          <p:nvPr/>
        </p:nvSpPr>
        <p:spPr>
          <a:xfrm>
            <a:off x="16095698" y="2450358"/>
            <a:ext cx="1525682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16538946" y="2574080"/>
            <a:ext cx="639055" cy="277467"/>
          </a:xfrm>
          <a:prstGeom prst="roundRect">
            <a:avLst>
              <a:gd name="adj" fmla="val 50000"/>
            </a:avLst>
          </a:prstGeom>
          <a:solidFill>
            <a:srgbClr val="F4E6CC"/>
          </a:solidFill>
          <a:ln/>
        </p:spPr>
      </p:sp>
      <p:sp>
        <p:nvSpPr>
          <p:cNvPr id="67" name="Text 65"/>
          <p:cNvSpPr/>
          <p:nvPr/>
        </p:nvSpPr>
        <p:spPr>
          <a:xfrm>
            <a:off x="16634196" y="2621705"/>
            <a:ext cx="44855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9B72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277299" y="3051365"/>
            <a:ext cx="2935020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9486849" y="3175190"/>
            <a:ext cx="2603971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 processor agreements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12212319" y="3051365"/>
            <a:ext cx="3883379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12421869" y="3175190"/>
            <a:ext cx="3580780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Contracts with any sub-processors</a:t>
            </a:r>
            <a:endParaRPr lang="en-US" sz="1238" dirty="0"/>
          </a:p>
        </p:txBody>
      </p:sp>
      <p:sp>
        <p:nvSpPr>
          <p:cNvPr id="72" name="Shape 70"/>
          <p:cNvSpPr/>
          <p:nvPr/>
        </p:nvSpPr>
        <p:spPr>
          <a:xfrm>
            <a:off x="16095698" y="3051365"/>
            <a:ext cx="1525682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16538946" y="3175086"/>
            <a:ext cx="639055" cy="277467"/>
          </a:xfrm>
          <a:prstGeom prst="roundRect">
            <a:avLst>
              <a:gd name="adj" fmla="val 50000"/>
            </a:avLst>
          </a:prstGeom>
          <a:solidFill>
            <a:srgbClr val="F4E6CC"/>
          </a:solidFill>
          <a:ln/>
        </p:spPr>
      </p:sp>
      <p:sp>
        <p:nvSpPr>
          <p:cNvPr id="74" name="Text 72"/>
          <p:cNvSpPr/>
          <p:nvPr/>
        </p:nvSpPr>
        <p:spPr>
          <a:xfrm>
            <a:off x="16634196" y="3222711"/>
            <a:ext cx="44855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9B72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HIGH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9277299" y="3652372"/>
            <a:ext cx="2935020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9486849" y="3776197"/>
            <a:ext cx="2603971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 retention policy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12212319" y="3652372"/>
            <a:ext cx="3883379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12421869" y="3776197"/>
            <a:ext cx="3580780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Time-limited, enforced in code</a:t>
            </a:r>
            <a:endParaRPr lang="en-US" sz="1238" dirty="0"/>
          </a:p>
        </p:txBody>
      </p:sp>
      <p:sp>
        <p:nvSpPr>
          <p:cNvPr id="79" name="Shape 77"/>
          <p:cNvSpPr/>
          <p:nvPr/>
        </p:nvSpPr>
        <p:spPr>
          <a:xfrm>
            <a:off x="16095698" y="3652372"/>
            <a:ext cx="1525682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16427261" y="3776093"/>
            <a:ext cx="862556" cy="277467"/>
          </a:xfrm>
          <a:prstGeom prst="roundRect">
            <a:avLst>
              <a:gd name="adj" fmla="val 50000"/>
            </a:avLst>
          </a:prstGeom>
          <a:solidFill>
            <a:srgbClr val="E7E1DF"/>
          </a:solidFill>
          <a:ln/>
        </p:spPr>
      </p:sp>
      <p:sp>
        <p:nvSpPr>
          <p:cNvPr id="81" name="Text 79"/>
          <p:cNvSpPr/>
          <p:nvPr/>
        </p:nvSpPr>
        <p:spPr>
          <a:xfrm>
            <a:off x="16522511" y="3823718"/>
            <a:ext cx="672056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7A6E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MEDIUM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9277299" y="4253378"/>
            <a:ext cx="2935020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9486849" y="4377203"/>
            <a:ext cx="2603971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Age verification</a:t>
            </a:r>
            <a:endParaRPr lang="en-US" sz="1350" dirty="0"/>
          </a:p>
        </p:txBody>
      </p:sp>
      <p:sp>
        <p:nvSpPr>
          <p:cNvPr id="84" name="Shape 82"/>
          <p:cNvSpPr/>
          <p:nvPr/>
        </p:nvSpPr>
        <p:spPr>
          <a:xfrm>
            <a:off x="12212319" y="4253378"/>
            <a:ext cx="3883379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12421869" y="4377203"/>
            <a:ext cx="3580780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Confirm adult users</a:t>
            </a:r>
            <a:endParaRPr lang="en-US" sz="1238" dirty="0"/>
          </a:p>
        </p:txBody>
      </p:sp>
      <p:sp>
        <p:nvSpPr>
          <p:cNvPr id="86" name="Shape 84"/>
          <p:cNvSpPr/>
          <p:nvPr/>
        </p:nvSpPr>
        <p:spPr>
          <a:xfrm>
            <a:off x="16095698" y="4253378"/>
            <a:ext cx="1525682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16427261" y="4377100"/>
            <a:ext cx="862556" cy="277467"/>
          </a:xfrm>
          <a:prstGeom prst="roundRect">
            <a:avLst>
              <a:gd name="adj" fmla="val 50000"/>
            </a:avLst>
          </a:prstGeom>
          <a:solidFill>
            <a:srgbClr val="E7E1DF"/>
          </a:solidFill>
          <a:ln/>
        </p:spPr>
      </p:sp>
      <p:sp>
        <p:nvSpPr>
          <p:cNvPr id="88" name="Text 86"/>
          <p:cNvSpPr/>
          <p:nvPr/>
        </p:nvSpPr>
        <p:spPr>
          <a:xfrm>
            <a:off x="16522511" y="4424725"/>
            <a:ext cx="672056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7A6E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MEDIUM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9277299" y="4854385"/>
            <a:ext cx="2935020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90" name="Text 88"/>
          <p:cNvSpPr/>
          <p:nvPr/>
        </p:nvSpPr>
        <p:spPr>
          <a:xfrm>
            <a:off x="9486849" y="4978210"/>
            <a:ext cx="2603971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Breach notification</a:t>
            </a:r>
            <a:endParaRPr lang="en-US" sz="1350" dirty="0"/>
          </a:p>
        </p:txBody>
      </p:sp>
      <p:sp>
        <p:nvSpPr>
          <p:cNvPr id="91" name="Shape 89"/>
          <p:cNvSpPr/>
          <p:nvPr/>
        </p:nvSpPr>
        <p:spPr>
          <a:xfrm>
            <a:off x="12212319" y="4854385"/>
            <a:ext cx="3883379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12421869" y="4978210"/>
            <a:ext cx="3580780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72-hour ICO reporting process</a:t>
            </a:r>
            <a:endParaRPr lang="en-US" sz="1238" dirty="0"/>
          </a:p>
        </p:txBody>
      </p:sp>
      <p:sp>
        <p:nvSpPr>
          <p:cNvPr id="93" name="Shape 91"/>
          <p:cNvSpPr/>
          <p:nvPr/>
        </p:nvSpPr>
        <p:spPr>
          <a:xfrm>
            <a:off x="16095698" y="4854385"/>
            <a:ext cx="1525682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Shape 92"/>
          <p:cNvSpPr/>
          <p:nvPr/>
        </p:nvSpPr>
        <p:spPr>
          <a:xfrm>
            <a:off x="16427261" y="4978107"/>
            <a:ext cx="862556" cy="277467"/>
          </a:xfrm>
          <a:prstGeom prst="roundRect">
            <a:avLst>
              <a:gd name="adj" fmla="val 50000"/>
            </a:avLst>
          </a:prstGeom>
          <a:solidFill>
            <a:srgbClr val="E7E1DF"/>
          </a:solidFill>
          <a:ln/>
        </p:spPr>
      </p:sp>
      <p:sp>
        <p:nvSpPr>
          <p:cNvPr id="95" name="Text 93"/>
          <p:cNvSpPr/>
          <p:nvPr/>
        </p:nvSpPr>
        <p:spPr>
          <a:xfrm>
            <a:off x="16522511" y="5025732"/>
            <a:ext cx="672056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7A6E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MEDIUM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9277299" y="5455392"/>
            <a:ext cx="2935020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9486849" y="5579217"/>
            <a:ext cx="2603971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Encryption at rest</a:t>
            </a:r>
            <a:endParaRPr lang="en-US" sz="1350" dirty="0"/>
          </a:p>
        </p:txBody>
      </p:sp>
      <p:sp>
        <p:nvSpPr>
          <p:cNvPr id="98" name="Shape 96"/>
          <p:cNvSpPr/>
          <p:nvPr/>
        </p:nvSpPr>
        <p:spPr>
          <a:xfrm>
            <a:off x="12212319" y="5455392"/>
            <a:ext cx="3883379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7"/>
          <p:cNvSpPr/>
          <p:nvPr/>
        </p:nvSpPr>
        <p:spPr>
          <a:xfrm>
            <a:off x="12421869" y="5579217"/>
            <a:ext cx="3580780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Encrypt stored data</a:t>
            </a:r>
            <a:endParaRPr lang="en-US" sz="1238" dirty="0"/>
          </a:p>
        </p:txBody>
      </p:sp>
      <p:sp>
        <p:nvSpPr>
          <p:cNvPr id="100" name="Shape 98"/>
          <p:cNvSpPr/>
          <p:nvPr/>
        </p:nvSpPr>
        <p:spPr>
          <a:xfrm>
            <a:off x="16095698" y="5455392"/>
            <a:ext cx="1525682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6427261" y="5579114"/>
            <a:ext cx="862556" cy="277467"/>
          </a:xfrm>
          <a:prstGeom prst="roundRect">
            <a:avLst>
              <a:gd name="adj" fmla="val 50000"/>
            </a:avLst>
          </a:prstGeom>
          <a:solidFill>
            <a:srgbClr val="E7E1DF"/>
          </a:solidFill>
          <a:ln/>
        </p:spPr>
      </p:sp>
      <p:sp>
        <p:nvSpPr>
          <p:cNvPr id="102" name="Text 100"/>
          <p:cNvSpPr/>
          <p:nvPr/>
        </p:nvSpPr>
        <p:spPr>
          <a:xfrm>
            <a:off x="16522511" y="5626739"/>
            <a:ext cx="672056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7A6E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MEDIUM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9277299" y="6056399"/>
            <a:ext cx="2935020" cy="524910"/>
          </a:xfrm>
          <a:prstGeom prst="roundRect">
            <a:avLst>
              <a:gd name="adj" fmla="val 25404"/>
            </a:avLst>
          </a:prstGeom>
          <a:solidFill>
            <a:srgbClr val="FFFF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9486849" y="6180224"/>
            <a:ext cx="2603971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323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 minimisation</a:t>
            </a:r>
            <a:endParaRPr lang="en-US" sz="1350" dirty="0"/>
          </a:p>
        </p:txBody>
      </p:sp>
      <p:sp>
        <p:nvSpPr>
          <p:cNvPr id="105" name="Shape 103"/>
          <p:cNvSpPr/>
          <p:nvPr/>
        </p:nvSpPr>
        <p:spPr>
          <a:xfrm>
            <a:off x="12212319" y="6056399"/>
            <a:ext cx="3883379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12421869" y="6180224"/>
            <a:ext cx="3580780" cy="31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6E625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Collect only what is clinically meaningful</a:t>
            </a:r>
            <a:endParaRPr lang="en-US" sz="1238" dirty="0"/>
          </a:p>
        </p:txBody>
      </p:sp>
      <p:sp>
        <p:nvSpPr>
          <p:cNvPr id="107" name="Shape 105"/>
          <p:cNvSpPr/>
          <p:nvPr/>
        </p:nvSpPr>
        <p:spPr>
          <a:xfrm>
            <a:off x="16095698" y="6056399"/>
            <a:ext cx="1525682" cy="524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6377306" y="6180120"/>
            <a:ext cx="962336" cy="277467"/>
          </a:xfrm>
          <a:prstGeom prst="roundRect">
            <a:avLst>
              <a:gd name="adj" fmla="val 50000"/>
            </a:avLst>
          </a:prstGeom>
          <a:solidFill>
            <a:srgbClr val="DCE9D5"/>
          </a:solidFill>
          <a:ln/>
        </p:spPr>
      </p:sp>
      <p:sp>
        <p:nvSpPr>
          <p:cNvPr id="109" name="Text 107"/>
          <p:cNvSpPr/>
          <p:nvPr/>
        </p:nvSpPr>
        <p:spPr>
          <a:xfrm>
            <a:off x="16472556" y="6227745"/>
            <a:ext cx="771836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587E5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ONGOING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666750" y="6809728"/>
            <a:ext cx="16954501" cy="657432"/>
          </a:xfrm>
          <a:prstGeom prst="roundRect">
            <a:avLst>
              <a:gd name="adj" fmla="val 34772"/>
            </a:avLst>
          </a:prstGeom>
          <a:solidFill>
            <a:srgbClr val="3B3231"/>
          </a:solidFill>
          <a:ln/>
        </p:spPr>
      </p:sp>
      <p:sp>
        <p:nvSpPr>
          <p:cNvPr id="111" name="Text 109"/>
          <p:cNvSpPr/>
          <p:nvPr/>
        </p:nvSpPr>
        <p:spPr>
          <a:xfrm>
            <a:off x="804863" y="6981074"/>
            <a:ext cx="16678275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clear, prioritised path to full compliance — </a:t>
            </a:r>
            <a:pPr algn="ctr" indent="0" marL="0">
              <a:buNone/>
            </a:pPr>
            <a:r>
              <a:rPr lang="en-US" sz="1800" b="1" dirty="0">
                <a:solidFill>
                  <a:srgbClr val="E89AA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built before we ever process real patient data.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2026-06-09T16:47:40Z</dcterms:created>
  <dcterms:modified xsi:type="dcterms:W3CDTF">2026-06-09T16:47:40Z</dcterms:modified>
</cp:coreProperties>
</file>